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6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393" y="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21336F11-A73F-4768-8944-B6A86CFD0956}" type="datetimeFigureOut">
              <a:rPr lang="en-ID" smtClean="0"/>
              <a:t>10/01/2025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22B661A-EDBB-4E6C-9ADD-B342402E85A6}" type="slidenum">
              <a:rPr lang="en-ID" smtClean="0"/>
              <a:t>‹#›</a:t>
            </a:fld>
            <a:endParaRPr lang="en-ID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06754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6F11-A73F-4768-8944-B6A86CFD0956}" type="datetimeFigureOut">
              <a:rPr lang="en-ID" smtClean="0"/>
              <a:t>10/01/2025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661A-EDBB-4E6C-9ADD-B342402E85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865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6F11-A73F-4768-8944-B6A86CFD0956}" type="datetimeFigureOut">
              <a:rPr lang="en-ID" smtClean="0"/>
              <a:t>10/01/2025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661A-EDBB-4E6C-9ADD-B342402E85A6}" type="slidenum">
              <a:rPr lang="en-ID" smtClean="0"/>
              <a:t>‹#›</a:t>
            </a:fld>
            <a:endParaRPr lang="en-ID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84064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6F11-A73F-4768-8944-B6A86CFD0956}" type="datetimeFigureOut">
              <a:rPr lang="en-ID" smtClean="0"/>
              <a:t>10/01/2025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661A-EDBB-4E6C-9ADD-B342402E85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4246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6F11-A73F-4768-8944-B6A86CFD0956}" type="datetimeFigureOut">
              <a:rPr lang="en-ID" smtClean="0"/>
              <a:t>10/01/2025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661A-EDBB-4E6C-9ADD-B342402E85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7761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6F11-A73F-4768-8944-B6A86CFD0956}" type="datetimeFigureOut">
              <a:rPr lang="en-ID" smtClean="0"/>
              <a:t>10/01/2025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661A-EDBB-4E6C-9ADD-B342402E85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616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6F11-A73F-4768-8944-B6A86CFD0956}" type="datetimeFigureOut">
              <a:rPr lang="en-ID" smtClean="0"/>
              <a:t>10/01/2025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661A-EDBB-4E6C-9ADD-B342402E85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439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6F11-A73F-4768-8944-B6A86CFD0956}" type="datetimeFigureOut">
              <a:rPr lang="en-ID" smtClean="0"/>
              <a:t>10/01/2025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661A-EDBB-4E6C-9ADD-B342402E85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8886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6F11-A73F-4768-8944-B6A86CFD0956}" type="datetimeFigureOut">
              <a:rPr lang="en-ID" smtClean="0"/>
              <a:t>10/01/2025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661A-EDBB-4E6C-9ADD-B342402E85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28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6F11-A73F-4768-8944-B6A86CFD0956}" type="datetimeFigureOut">
              <a:rPr lang="en-ID" smtClean="0"/>
              <a:t>10/01/2025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661A-EDBB-4E6C-9ADD-B342402E85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1272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6F11-A73F-4768-8944-B6A86CFD0956}" type="datetimeFigureOut">
              <a:rPr lang="en-ID" smtClean="0"/>
              <a:t>10/01/2025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661A-EDBB-4E6C-9ADD-B342402E85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643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1336F11-A73F-4768-8944-B6A86CFD0956}" type="datetimeFigureOut">
              <a:rPr lang="en-ID" smtClean="0"/>
              <a:t>10/01/2025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22B661A-EDBB-4E6C-9ADD-B342402E85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531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43D26-69B5-37EC-29FD-DD69057D6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2932515"/>
          </a:xfrm>
        </p:spPr>
        <p:txBody>
          <a:bodyPr/>
          <a:lstStyle/>
          <a:p>
            <a:r>
              <a:rPr lang="en-US" dirty="0"/>
              <a:t>Coding Knowledge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0F34B-B742-18EA-296E-9860DAC13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6266" y="3628501"/>
            <a:ext cx="9364133" cy="685800"/>
          </a:xfrm>
        </p:spPr>
        <p:txBody>
          <a:bodyPr>
            <a:normAutofit/>
          </a:bodyPr>
          <a:lstStyle/>
          <a:p>
            <a:r>
              <a:rPr lang="en-US" sz="3200" dirty="0" err="1">
                <a:solidFill>
                  <a:schemeClr val="tx1"/>
                </a:solidFill>
              </a:rPr>
              <a:t>Javascript</a:t>
            </a:r>
            <a:r>
              <a:rPr lang="en-US" sz="3200" dirty="0">
                <a:solidFill>
                  <a:schemeClr val="tx1"/>
                </a:solidFill>
              </a:rPr>
              <a:t> API</a:t>
            </a:r>
            <a:endParaRPr lang="en-ID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156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D30D8-F6A5-6135-7553-BC889D54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490" y="237559"/>
            <a:ext cx="8610600" cy="1293028"/>
          </a:xfrm>
        </p:spPr>
        <p:txBody>
          <a:bodyPr>
            <a:normAutofit/>
          </a:bodyPr>
          <a:lstStyle/>
          <a:p>
            <a:r>
              <a:rPr lang="en-US" sz="3600" dirty="0"/>
              <a:t>Introduction to APPs</a:t>
            </a:r>
            <a:endParaRPr lang="en-ID" sz="3600" dirty="0"/>
          </a:p>
        </p:txBody>
      </p:sp>
      <p:pic>
        <p:nvPicPr>
          <p:cNvPr id="5" name="Graphic 4" descr="Laptop with solid fill">
            <a:extLst>
              <a:ext uri="{FF2B5EF4-FFF2-40B4-BE49-F238E27FC236}">
                <a16:creationId xmlns:a16="http://schemas.microsoft.com/office/drawing/2014/main" id="{3F631BBA-D0C3-4DC6-5A36-F60C55CAB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490" y="2073328"/>
            <a:ext cx="1286933" cy="12869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D6A318-7156-DD8F-94D1-348C72661C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01" t="2752" r="2186" b="3716"/>
          <a:stretch/>
        </p:blipFill>
        <p:spPr>
          <a:xfrm>
            <a:off x="3316708" y="2982493"/>
            <a:ext cx="3219557" cy="24209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15F85D2-4345-0B3B-63ED-E4FD82ABCD3D}"/>
              </a:ext>
            </a:extLst>
          </p:cNvPr>
          <p:cNvSpPr/>
          <p:nvPr/>
        </p:nvSpPr>
        <p:spPr>
          <a:xfrm>
            <a:off x="4092479" y="2732722"/>
            <a:ext cx="1553202" cy="501764"/>
          </a:xfrm>
          <a:prstGeom prst="rect">
            <a:avLst/>
          </a:prstGeom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Interface</a:t>
            </a:r>
            <a:endParaRPr lang="en-ID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0EFB9F-BB87-B686-65D9-7DA6087964FE}"/>
              </a:ext>
            </a:extLst>
          </p:cNvPr>
          <p:cNvSpPr/>
          <p:nvPr/>
        </p:nvSpPr>
        <p:spPr>
          <a:xfrm>
            <a:off x="7312284" y="3405611"/>
            <a:ext cx="1416851" cy="157467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  <a:endParaRPr lang="en-ID" dirty="0"/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4C30EF70-6E32-9CAC-BF0C-9076444EBFA1}"/>
              </a:ext>
            </a:extLst>
          </p:cNvPr>
          <p:cNvSpPr/>
          <p:nvPr/>
        </p:nvSpPr>
        <p:spPr>
          <a:xfrm>
            <a:off x="9338734" y="3224730"/>
            <a:ext cx="1193107" cy="1710220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  <a:endParaRPr lang="en-ID" dirty="0"/>
          </a:p>
        </p:txBody>
      </p:sp>
      <p:pic>
        <p:nvPicPr>
          <p:cNvPr id="15" name="Graphic 14" descr="Smart Phone with solid fill">
            <a:extLst>
              <a:ext uri="{FF2B5EF4-FFF2-40B4-BE49-F238E27FC236}">
                <a16:creationId xmlns:a16="http://schemas.microsoft.com/office/drawing/2014/main" id="{7F5DDE6E-96E4-71C6-5799-BEB9403CEC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56" y="4934949"/>
            <a:ext cx="914400" cy="914400"/>
          </a:xfrm>
          <a:prstGeom prst="rect">
            <a:avLst/>
          </a:prstGeom>
        </p:spPr>
      </p:pic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98B04A5-BDB5-EBBA-9919-FC905A88291B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068423" y="2716795"/>
            <a:ext cx="1248285" cy="1476152"/>
          </a:xfrm>
          <a:prstGeom prst="bentConnector3">
            <a:avLst>
              <a:gd name="adj1" fmla="val 4253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9FC4415-8075-A086-D6DC-9F93A06468AF}"/>
              </a:ext>
            </a:extLst>
          </p:cNvPr>
          <p:cNvCxnSpPr>
            <a:cxnSpLocks/>
            <a:stCxn id="15" idx="3"/>
            <a:endCxn id="9" idx="1"/>
          </p:cNvCxnSpPr>
          <p:nvPr/>
        </p:nvCxnSpPr>
        <p:spPr>
          <a:xfrm flipV="1">
            <a:off x="1882156" y="4192947"/>
            <a:ext cx="1434552" cy="119920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1983A4F-FD26-323E-8724-2D4C507C2CB9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6536265" y="4192947"/>
            <a:ext cx="7760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5EF5A78-1097-382D-187A-3810BC7271B5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8729135" y="4192946"/>
            <a:ext cx="6096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EFAD4F-11FC-1338-FD40-163136153C33}"/>
              </a:ext>
            </a:extLst>
          </p:cNvPr>
          <p:cNvCxnSpPr>
            <a:cxnSpLocks/>
          </p:cNvCxnSpPr>
          <p:nvPr/>
        </p:nvCxnSpPr>
        <p:spPr>
          <a:xfrm flipH="1">
            <a:off x="8720667" y="436880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9DE2DE5-CA80-B3B6-9025-9297E23701FB}"/>
              </a:ext>
            </a:extLst>
          </p:cNvPr>
          <p:cNvCxnSpPr>
            <a:cxnSpLocks/>
          </p:cNvCxnSpPr>
          <p:nvPr/>
        </p:nvCxnSpPr>
        <p:spPr>
          <a:xfrm flipH="1">
            <a:off x="6544733" y="4368800"/>
            <a:ext cx="759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307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98A917B-808A-C79C-C5CD-40A7BD2ED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478453"/>
            <a:ext cx="8271933" cy="711986"/>
          </a:xfrm>
        </p:spPr>
        <p:txBody>
          <a:bodyPr>
            <a:normAutofit/>
          </a:bodyPr>
          <a:lstStyle/>
          <a:p>
            <a:r>
              <a:rPr lang="en-US" sz="3600" dirty="0"/>
              <a:t>Introduction to APPs</a:t>
            </a:r>
            <a:endParaRPr lang="en-ID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62301-5AC4-902F-FE5E-124E7F32B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695026"/>
            <a:ext cx="4030133" cy="4024125"/>
          </a:xfr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/>
              <a:t>Client Side</a:t>
            </a:r>
            <a:br>
              <a:rPr lang="en-US" dirty="0"/>
            </a:br>
            <a:endParaRPr lang="en-ID" b="0" i="0" dirty="0"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D" sz="1800" b="0" i="0" dirty="0">
                <a:effectLst/>
                <a:latin typeface="-apple-system"/>
              </a:rPr>
              <a:t>User interface design (UI/UX).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D" sz="1800" b="0" i="0" dirty="0">
                <a:effectLst/>
                <a:latin typeface="-apple-system"/>
              </a:rPr>
              <a:t>Client-side validation (form inputs).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D" sz="1800" b="0" i="0" dirty="0">
                <a:effectLst/>
                <a:latin typeface="-apple-system"/>
              </a:rPr>
              <a:t>Static content delivery (images, stylesheets).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D" sz="1800" b="0" i="0" dirty="0">
                <a:effectLst/>
                <a:latin typeface="-apple-system"/>
              </a:rPr>
              <a:t>Local data storage (cookies, local storage).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ID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437EAA-C18F-C59F-D341-E2C762C51EC5}"/>
              </a:ext>
            </a:extLst>
          </p:cNvPr>
          <p:cNvSpPr txBox="1">
            <a:spLocks/>
          </p:cNvSpPr>
          <p:nvPr/>
        </p:nvSpPr>
        <p:spPr>
          <a:xfrm>
            <a:off x="5198534" y="1695025"/>
            <a:ext cx="5257800" cy="40241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00" dirty="0"/>
              <a:t>Server Side</a:t>
            </a:r>
            <a:br>
              <a:rPr lang="en-US" sz="1800" dirty="0"/>
            </a:br>
            <a:endParaRPr lang="en-US" sz="1800" b="0" i="0" dirty="0"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-apple-system"/>
              </a:rPr>
              <a:t>Data Security</a:t>
            </a:r>
            <a:r>
              <a:rPr lang="en-US" sz="1800" b="0" i="0" dirty="0">
                <a:effectLst/>
                <a:latin typeface="-apple-system"/>
              </a:rPr>
              <a:t>: </a:t>
            </a:r>
            <a:br>
              <a:rPr lang="en-US" sz="1800" b="0" i="0" dirty="0">
                <a:effectLst/>
                <a:latin typeface="-apple-system"/>
              </a:rPr>
            </a:br>
            <a:r>
              <a:rPr lang="en-US" sz="1800" b="0" i="0" dirty="0">
                <a:effectLst/>
                <a:latin typeface="-apple-system"/>
              </a:rPr>
              <a:t>Sensitive data should not be exposed on the client-side.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-apple-system"/>
              </a:rPr>
              <a:t>Business Logic</a:t>
            </a:r>
            <a:r>
              <a:rPr lang="en-US" sz="1800" b="0" i="0" dirty="0">
                <a:effectLst/>
                <a:latin typeface="-apple-system"/>
              </a:rPr>
              <a:t>: </a:t>
            </a:r>
            <a:br>
              <a:rPr lang="en-US" sz="1800" b="0" i="0" dirty="0">
                <a:effectLst/>
                <a:latin typeface="-apple-system"/>
              </a:rPr>
            </a:br>
            <a:r>
              <a:rPr lang="en-US" sz="1800" b="0" i="0" dirty="0">
                <a:effectLst/>
                <a:latin typeface="-apple-system"/>
              </a:rPr>
              <a:t>Ensures core functionality of the app remains secure and consistent.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-apple-system"/>
              </a:rPr>
              <a:t>Database Operations</a:t>
            </a:r>
            <a:r>
              <a:rPr lang="en-US" sz="1800" b="0" i="0" dirty="0">
                <a:effectLst/>
                <a:latin typeface="-apple-system"/>
              </a:rPr>
              <a:t>:</a:t>
            </a:r>
            <a:br>
              <a:rPr lang="en-US" sz="1800" b="0" i="0" dirty="0">
                <a:effectLst/>
                <a:latin typeface="-apple-system"/>
              </a:rPr>
            </a:br>
            <a:r>
              <a:rPr lang="en-US" sz="1800" b="0" i="0" dirty="0">
                <a:effectLst/>
                <a:latin typeface="-apple-system"/>
              </a:rPr>
              <a:t> interactions with databases should occur on the server-side to protect data integrity.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-apple-system"/>
              </a:rPr>
              <a:t>Session Management</a:t>
            </a:r>
            <a:r>
              <a:rPr lang="en-US" sz="1800" b="0" i="0" dirty="0">
                <a:effectLst/>
                <a:latin typeface="-apple-system"/>
              </a:rPr>
              <a:t>: </a:t>
            </a:r>
            <a:br>
              <a:rPr lang="en-US" sz="1800" b="0" i="0" dirty="0">
                <a:effectLst/>
                <a:latin typeface="-apple-system"/>
              </a:rPr>
            </a:br>
            <a:r>
              <a:rPr lang="en-US" sz="1800" b="0" i="0" dirty="0">
                <a:effectLst/>
                <a:latin typeface="-apple-system"/>
              </a:rPr>
              <a:t>Handling user sessions to maintain state and secure interactions.</a:t>
            </a:r>
          </a:p>
          <a:p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184877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3CB7-A5D7-AC4A-91A4-3BF03097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2832"/>
            <a:ext cx="9692640" cy="1325562"/>
          </a:xfrm>
        </p:spPr>
        <p:txBody>
          <a:bodyPr/>
          <a:lstStyle/>
          <a:p>
            <a:r>
              <a:rPr lang="en-US" dirty="0"/>
              <a:t>What is API 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606A6-1B3E-9FFA-9FE1-83F8E2C70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854" y="2194560"/>
            <a:ext cx="5440680" cy="4024125"/>
          </a:xfrm>
        </p:spPr>
        <p:txBody>
          <a:bodyPr>
            <a:normAutofit/>
          </a:bodyPr>
          <a:lstStyle/>
          <a:p>
            <a:r>
              <a:rPr lang="en-US" dirty="0"/>
              <a:t>API definition</a:t>
            </a:r>
            <a:br>
              <a:rPr lang="en-US" dirty="0"/>
            </a:br>
            <a:r>
              <a:rPr lang="en-US" sz="1600" b="0" i="0" dirty="0">
                <a:effectLst/>
                <a:latin typeface="-apple-system"/>
              </a:rPr>
              <a:t>Application Programming Interface, is a set of rules and protocols that allows different software applications to communicate with each other. Think of it as a bridge that enables different programs to share data and functionality and work together seamlessly.</a:t>
            </a:r>
            <a:br>
              <a:rPr lang="en-US" b="0" i="0" dirty="0">
                <a:solidFill>
                  <a:srgbClr val="121512"/>
                </a:solidFill>
                <a:effectLst/>
                <a:latin typeface="-apple-system"/>
              </a:rPr>
            </a:br>
            <a:endParaRPr lang="en-US" dirty="0"/>
          </a:p>
          <a:p>
            <a:r>
              <a:rPr lang="en-US" dirty="0"/>
              <a:t>Why Use API</a:t>
            </a:r>
            <a:br>
              <a:rPr lang="en-US" dirty="0"/>
            </a:br>
            <a:r>
              <a:rPr lang="en-US" sz="1600" i="0" dirty="0">
                <a:effectLst/>
                <a:latin typeface="-apple-system"/>
              </a:rPr>
              <a:t>Security,  Scalability, Flexibility</a:t>
            </a:r>
            <a:br>
              <a:rPr lang="en-US" b="1" i="0" dirty="0">
                <a:solidFill>
                  <a:srgbClr val="121512"/>
                </a:solidFill>
                <a:effectLst/>
                <a:latin typeface="-apple-system"/>
              </a:rPr>
            </a:br>
            <a:endParaRPr lang="en-US" dirty="0"/>
          </a:p>
          <a:p>
            <a:r>
              <a:rPr lang="en-US" dirty="0"/>
              <a:t>What we need to build an API</a:t>
            </a:r>
            <a:br>
              <a:rPr lang="en-ID" dirty="0"/>
            </a:br>
            <a:r>
              <a:rPr lang="en-ID" sz="1600" dirty="0"/>
              <a:t>Programming Language, IDE, Databases, Testing Tools</a:t>
            </a:r>
            <a:endParaRPr lang="en-US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4DDEB6-FE1F-C6F3-F53B-D78328312A11}"/>
              </a:ext>
            </a:extLst>
          </p:cNvPr>
          <p:cNvSpPr/>
          <p:nvPr/>
        </p:nvSpPr>
        <p:spPr>
          <a:xfrm>
            <a:off x="8312571" y="3506893"/>
            <a:ext cx="1117600" cy="107949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3487D3-EA08-3A1F-204D-D9BF951CAFE1}"/>
              </a:ext>
            </a:extLst>
          </p:cNvPr>
          <p:cNvSpPr/>
          <p:nvPr/>
        </p:nvSpPr>
        <p:spPr>
          <a:xfrm>
            <a:off x="6509172" y="2194560"/>
            <a:ext cx="1117600" cy="10794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Apps A</a:t>
            </a:r>
            <a:endParaRPr lang="en-ID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E4E334-E837-7404-1DC2-B2F626D60D15}"/>
              </a:ext>
            </a:extLst>
          </p:cNvPr>
          <p:cNvSpPr/>
          <p:nvPr/>
        </p:nvSpPr>
        <p:spPr>
          <a:xfrm>
            <a:off x="6509172" y="3506895"/>
            <a:ext cx="1117600" cy="10794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Apps B</a:t>
            </a:r>
            <a:endParaRPr lang="en-ID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31A791-E0CD-E76F-655B-BBC44A33665B}"/>
              </a:ext>
            </a:extLst>
          </p:cNvPr>
          <p:cNvSpPr/>
          <p:nvPr/>
        </p:nvSpPr>
        <p:spPr>
          <a:xfrm>
            <a:off x="6509172" y="4819230"/>
            <a:ext cx="1117600" cy="10794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Apps …</a:t>
            </a:r>
            <a:endParaRPr lang="en-ID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84F5D8C-1B96-B216-0413-3BC6C78F29A6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7626772" y="2734310"/>
            <a:ext cx="685799" cy="1312333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939F5F5-1D51-F73E-9EF2-AAC042C1A5DD}"/>
              </a:ext>
            </a:extLst>
          </p:cNvPr>
          <p:cNvCxnSpPr>
            <a:cxnSpLocks/>
            <a:stCxn id="12" idx="3"/>
            <a:endCxn id="4" idx="1"/>
          </p:cNvCxnSpPr>
          <p:nvPr/>
        </p:nvCxnSpPr>
        <p:spPr>
          <a:xfrm flipV="1">
            <a:off x="7626772" y="4046643"/>
            <a:ext cx="685799" cy="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249CE62-3DA4-26A4-A3E7-B392634792FF}"/>
              </a:ext>
            </a:extLst>
          </p:cNvPr>
          <p:cNvCxnSpPr>
            <a:cxnSpLocks/>
            <a:stCxn id="13" idx="3"/>
            <a:endCxn id="4" idx="1"/>
          </p:cNvCxnSpPr>
          <p:nvPr/>
        </p:nvCxnSpPr>
        <p:spPr>
          <a:xfrm flipV="1">
            <a:off x="7626772" y="4046643"/>
            <a:ext cx="685799" cy="13123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A5A6A633-D739-ED04-83E7-CCF2FCFD9C28}"/>
              </a:ext>
            </a:extLst>
          </p:cNvPr>
          <p:cNvSpPr/>
          <p:nvPr/>
        </p:nvSpPr>
        <p:spPr>
          <a:xfrm>
            <a:off x="9819640" y="3506892"/>
            <a:ext cx="1117600" cy="10794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System </a:t>
            </a:r>
            <a:endParaRPr lang="en-ID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650EFBF-F674-7439-99ED-E34AAF5AE6A7}"/>
              </a:ext>
            </a:extLst>
          </p:cNvPr>
          <p:cNvCxnSpPr>
            <a:stCxn id="4" idx="3"/>
            <a:endCxn id="43" idx="1"/>
          </p:cNvCxnSpPr>
          <p:nvPr/>
        </p:nvCxnSpPr>
        <p:spPr>
          <a:xfrm flipV="1">
            <a:off x="9430171" y="4046642"/>
            <a:ext cx="389469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832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132187-1779-EFDF-EA23-F2EFD3926871}"/>
              </a:ext>
            </a:extLst>
          </p:cNvPr>
          <p:cNvSpPr/>
          <p:nvPr/>
        </p:nvSpPr>
        <p:spPr>
          <a:xfrm>
            <a:off x="8709537" y="3200063"/>
            <a:ext cx="2234650" cy="18032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43CB7-A5D7-AC4A-91A4-3BF03097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72" y="126530"/>
            <a:ext cx="8610600" cy="1293028"/>
          </a:xfrm>
        </p:spPr>
        <p:txBody>
          <a:bodyPr>
            <a:normAutofit/>
          </a:bodyPr>
          <a:lstStyle/>
          <a:p>
            <a:r>
              <a:rPr lang="en-US" sz="3600" dirty="0"/>
              <a:t>What happened inside API ?</a:t>
            </a:r>
            <a:endParaRPr lang="en-ID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606A6-1B3E-9FFA-9FE1-83F8E2C70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70" y="1966430"/>
            <a:ext cx="7669729" cy="4316306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-apple-system"/>
              </a:rPr>
              <a:t>1. Validation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-apple-system"/>
              </a:rPr>
              <a:t>:</a:t>
            </a:r>
          </a:p>
          <a:p>
            <a:pPr marL="457200" lvl="1" indent="0" algn="l">
              <a:buNone/>
            </a:pPr>
            <a:r>
              <a:rPr lang="en-US" sz="1600" b="0" i="0" dirty="0">
                <a:solidFill>
                  <a:schemeClr val="tx1"/>
                </a:solidFill>
                <a:effectLst/>
                <a:latin typeface="-apple-system"/>
              </a:rPr>
              <a:t>Input validation checks whether the incoming data meets the required format</a:t>
            </a:r>
            <a:r>
              <a:rPr lang="en-US" dirty="0">
                <a:solidFill>
                  <a:schemeClr val="tx1"/>
                </a:solidFill>
                <a:latin typeface="-apple-system"/>
              </a:rPr>
              <a:t> &amp;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-apple-system"/>
              </a:rPr>
              <a:t> structure.</a:t>
            </a:r>
          </a:p>
          <a:p>
            <a:pPr marL="0" indent="0" algn="l"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-apple-system"/>
              </a:rPr>
              <a:t>2. Authentication and Authorization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-apple-system"/>
              </a:rPr>
              <a:t>:</a:t>
            </a:r>
          </a:p>
          <a:p>
            <a:pPr marL="457200" lvl="1" indent="0" algn="l"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-apple-system"/>
              </a:rPr>
              <a:t>Authentication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-apple-system"/>
              </a:rPr>
              <a:t> verifies the identity of the user or application making the request </a:t>
            </a:r>
            <a:r>
              <a:rPr lang="en-US" sz="1600" b="1" i="0" dirty="0">
                <a:solidFill>
                  <a:schemeClr val="tx1"/>
                </a:solidFill>
                <a:effectLst/>
                <a:latin typeface="-apple-system"/>
              </a:rPr>
              <a:t>Authorization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-apple-system"/>
              </a:rPr>
              <a:t> checks if the authenticated user has permission to perform the action.</a:t>
            </a:r>
          </a:p>
          <a:p>
            <a:pPr marL="0" indent="0"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-apple-system"/>
              </a:rPr>
              <a:t>3. Transformation</a:t>
            </a:r>
          </a:p>
          <a:p>
            <a:pPr marL="0" indent="0"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-apple-system"/>
              </a:rPr>
              <a:t>          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-apple-system"/>
              </a:rPr>
              <a:t>If necessary, the API may transform or format incoming data to match internal </a:t>
            </a:r>
            <a:br>
              <a:rPr lang="en-US" sz="1600" b="0" i="0" dirty="0">
                <a:solidFill>
                  <a:schemeClr val="tx1"/>
                </a:solidFill>
                <a:effectLst/>
                <a:latin typeface="-apple-system"/>
              </a:rPr>
            </a:br>
            <a:r>
              <a:rPr lang="en-US" sz="1600" b="0" i="0" dirty="0">
                <a:solidFill>
                  <a:schemeClr val="tx1"/>
                </a:solidFill>
                <a:effectLst/>
                <a:latin typeface="-apple-system"/>
              </a:rPr>
              <a:t>          models or structures that the application uses.</a:t>
            </a:r>
          </a:p>
          <a:p>
            <a:pPr marL="0" indent="0"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-apple-system"/>
              </a:rPr>
              <a:t>4. Business Logic</a:t>
            </a:r>
            <a:br>
              <a:rPr lang="en-US" sz="1600" b="1" i="0" dirty="0">
                <a:effectLst/>
                <a:latin typeface="-apple-system"/>
              </a:rPr>
            </a:br>
            <a:br>
              <a:rPr lang="en-US" sz="1600" b="1" i="0" dirty="0">
                <a:effectLst/>
                <a:latin typeface="-apple-system"/>
              </a:rPr>
            </a:br>
            <a:r>
              <a:rPr lang="en-US" sz="1600" b="1" i="0" dirty="0">
                <a:effectLst/>
                <a:latin typeface="-apple-system"/>
              </a:rPr>
              <a:t>          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-apple-system"/>
              </a:rPr>
              <a:t>Fetching or manipulating data from a database.</a:t>
            </a:r>
            <a:br>
              <a:rPr lang="en-US" sz="1600" dirty="0">
                <a:latin typeface="-apple-system"/>
              </a:rPr>
            </a:br>
            <a:r>
              <a:rPr lang="en-US" sz="1600" dirty="0">
                <a:latin typeface="-apple-system"/>
              </a:rPr>
              <a:t>          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-apple-system"/>
              </a:rPr>
              <a:t>Performing calculations or interacting with other</a:t>
            </a:r>
            <a:r>
              <a:rPr lang="en-US" sz="1600" dirty="0">
                <a:solidFill>
                  <a:schemeClr val="tx1"/>
                </a:solidFill>
                <a:latin typeface="-apple-system"/>
              </a:rPr>
              <a:t> 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-apple-system"/>
              </a:rPr>
              <a:t>services or APIs.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6" name="Graphic 5" descr="Single gear with solid fill">
            <a:extLst>
              <a:ext uri="{FF2B5EF4-FFF2-40B4-BE49-F238E27FC236}">
                <a16:creationId xmlns:a16="http://schemas.microsoft.com/office/drawing/2014/main" id="{75368C0A-097B-51EE-F30B-ED9AE6150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5674" y="2310232"/>
            <a:ext cx="1655659" cy="1655659"/>
          </a:xfrm>
          <a:prstGeom prst="rect">
            <a:avLst/>
          </a:prstGeom>
        </p:spPr>
      </p:pic>
      <p:pic>
        <p:nvPicPr>
          <p:cNvPr id="8" name="Graphic 7" descr="Single gear with solid fill">
            <a:extLst>
              <a:ext uri="{FF2B5EF4-FFF2-40B4-BE49-F238E27FC236}">
                <a16:creationId xmlns:a16="http://schemas.microsoft.com/office/drawing/2014/main" id="{5F7186FA-9495-8A70-BFD7-8E503E1DB5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38140" y="2767412"/>
            <a:ext cx="1144790" cy="114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9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3CB7-A5D7-AC4A-91A4-3BF030974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API Looks like 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606A6-1B3E-9FFA-9FE1-83F8E2C70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46960"/>
            <a:ext cx="10820400" cy="4024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API URL</a:t>
            </a:r>
            <a:br>
              <a:rPr lang="en-US" dirty="0"/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inherit"/>
              </a:rPr>
              <a:t>https://example.com/customer?id=25&amp;name=ari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API METHOD</a:t>
            </a:r>
            <a:br>
              <a:rPr lang="en-US" dirty="0"/>
            </a:br>
            <a:r>
              <a:rPr lang="en-US" dirty="0"/>
              <a:t>GET, POST, PUT, DELETE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API REQUEST</a:t>
            </a:r>
            <a:br>
              <a:rPr lang="en-US" dirty="0"/>
            </a:br>
            <a:r>
              <a:rPr lang="en-US" dirty="0"/>
              <a:t>Header, Body, Query Param</a:t>
            </a:r>
            <a:br>
              <a:rPr lang="en-US" dirty="0"/>
            </a:br>
            <a:endParaRPr lang="en-US" dirty="0"/>
          </a:p>
          <a:p>
            <a:r>
              <a:rPr lang="en-US" dirty="0"/>
              <a:t>API RESPONSE</a:t>
            </a:r>
            <a:br>
              <a:rPr lang="en-US" dirty="0"/>
            </a:br>
            <a:r>
              <a:rPr lang="en-US" dirty="0"/>
              <a:t>Header, Body</a:t>
            </a:r>
          </a:p>
        </p:txBody>
      </p:sp>
    </p:spTree>
    <p:extLst>
      <p:ext uri="{BB962C8B-B14F-4D97-AF65-F5344CB8AC3E}">
        <p14:creationId xmlns:p14="http://schemas.microsoft.com/office/powerpoint/2010/main" val="674305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3CB7-A5D7-AC4A-91A4-3BF03097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005" y="0"/>
            <a:ext cx="9692640" cy="1325562"/>
          </a:xfrm>
        </p:spPr>
        <p:txBody>
          <a:bodyPr/>
          <a:lstStyle/>
          <a:p>
            <a:r>
              <a:rPr lang="en-US" dirty="0"/>
              <a:t>API sample 1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9C61C5-0C3C-97EA-0329-94087930F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05" y="1693945"/>
            <a:ext cx="10078897" cy="424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586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E8C7C7-881F-21BE-D3B4-62E68C64BF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437"/>
          <a:stretch/>
        </p:blipFill>
        <p:spPr>
          <a:xfrm>
            <a:off x="466005" y="1737198"/>
            <a:ext cx="9936358" cy="423180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E802C07-C2E6-76A6-7EE8-09E4A9DA3137}"/>
              </a:ext>
            </a:extLst>
          </p:cNvPr>
          <p:cNvSpPr txBox="1">
            <a:spLocks/>
          </p:cNvSpPr>
          <p:nvPr/>
        </p:nvSpPr>
        <p:spPr>
          <a:xfrm>
            <a:off x="466005" y="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API sample 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29514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3CB7-A5D7-AC4A-91A4-3BF030974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HOW to build CRUD </a:t>
            </a:r>
            <a:r>
              <a:rPr lang="en-US" sz="3600" dirty="0" err="1"/>
              <a:t>api</a:t>
            </a:r>
            <a:endParaRPr lang="en-ID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606A6-1B3E-9FFA-9FE1-83F8E2C70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413000"/>
            <a:ext cx="8595360" cy="3767137"/>
          </a:xfrm>
        </p:spPr>
        <p:txBody>
          <a:bodyPr/>
          <a:lstStyle/>
          <a:p>
            <a:r>
              <a:rPr lang="en-US" dirty="0"/>
              <a:t>Design Entity</a:t>
            </a:r>
          </a:p>
          <a:p>
            <a:r>
              <a:rPr lang="en-US" dirty="0"/>
              <a:t>Define Parameters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BCD92-85B8-8712-FB71-3BC3C07AACD6}"/>
              </a:ext>
            </a:extLst>
          </p:cNvPr>
          <p:cNvSpPr txBox="1"/>
          <p:nvPr/>
        </p:nvSpPr>
        <p:spPr>
          <a:xfrm>
            <a:off x="1380406" y="3651804"/>
            <a:ext cx="610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effectLst/>
                <a:latin typeface="Candara Light" panose="020E0502030303020204" pitchFamily="34" charset="0"/>
              </a:rPr>
              <a:t>customer(id, </a:t>
            </a:r>
            <a:r>
              <a:rPr lang="en-US" b="0" dirty="0" err="1">
                <a:solidFill>
                  <a:srgbClr val="FF0000"/>
                </a:solidFill>
                <a:effectLst/>
                <a:latin typeface="Candara Light" panose="020E0502030303020204" pitchFamily="34" charset="0"/>
              </a:rPr>
              <a:t>first_name</a:t>
            </a:r>
            <a:r>
              <a:rPr lang="en-US" b="0" dirty="0">
                <a:solidFill>
                  <a:srgbClr val="FF0000"/>
                </a:solidFill>
                <a:effectLst/>
                <a:latin typeface="Candara Light" panose="020E0502030303020204" pitchFamily="34" charset="0"/>
              </a:rPr>
              <a:t>, </a:t>
            </a:r>
            <a:r>
              <a:rPr lang="en-US" b="0" dirty="0" err="1">
                <a:solidFill>
                  <a:srgbClr val="FF0000"/>
                </a:solidFill>
                <a:effectLst/>
                <a:latin typeface="Candara Light" panose="020E0502030303020204" pitchFamily="34" charset="0"/>
              </a:rPr>
              <a:t>last_name</a:t>
            </a:r>
            <a:r>
              <a:rPr lang="en-US" b="0" dirty="0">
                <a:solidFill>
                  <a:srgbClr val="FF0000"/>
                </a:solidFill>
                <a:effectLst/>
                <a:latin typeface="Candara Light" panose="020E0502030303020204" pitchFamily="34" charset="0"/>
              </a:rPr>
              <a:t>, phone, email, </a:t>
            </a:r>
            <a:r>
              <a:rPr lang="en-US" b="0" dirty="0" err="1">
                <a:solidFill>
                  <a:srgbClr val="FF0000"/>
                </a:solidFill>
                <a:effectLst/>
                <a:latin typeface="Candara Light" panose="020E0502030303020204" pitchFamily="34" charset="0"/>
              </a:rPr>
              <a:t>join_date</a:t>
            </a:r>
            <a:r>
              <a:rPr lang="en-US" b="0" dirty="0">
                <a:solidFill>
                  <a:srgbClr val="FF0000"/>
                </a:solidFill>
                <a:effectLst/>
                <a:latin typeface="Candara Light" panose="020E0502030303020204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9C4AD-D266-3A1F-FC83-539D54688FD8}"/>
              </a:ext>
            </a:extLst>
          </p:cNvPr>
          <p:cNvSpPr txBox="1"/>
          <p:nvPr/>
        </p:nvSpPr>
        <p:spPr>
          <a:xfrm>
            <a:off x="1380406" y="4111902"/>
            <a:ext cx="610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ndara Light" panose="020E0502030303020204" pitchFamily="34" charset="0"/>
              </a:rPr>
              <a:t>product</a:t>
            </a:r>
            <a:r>
              <a:rPr lang="en-US" b="0" dirty="0">
                <a:solidFill>
                  <a:srgbClr val="FF0000"/>
                </a:solidFill>
                <a:effectLst/>
                <a:latin typeface="Candara Light" panose="020E0502030303020204" pitchFamily="34" charset="0"/>
              </a:rPr>
              <a:t>(id, </a:t>
            </a:r>
            <a:r>
              <a:rPr lang="en-US" b="0" dirty="0" err="1">
                <a:solidFill>
                  <a:srgbClr val="FF0000"/>
                </a:solidFill>
                <a:effectLst/>
                <a:latin typeface="Candara Light" panose="020E0502030303020204" pitchFamily="34" charset="0"/>
              </a:rPr>
              <a:t>product_name</a:t>
            </a:r>
            <a:r>
              <a:rPr lang="en-US" b="0" dirty="0">
                <a:solidFill>
                  <a:srgbClr val="FF0000"/>
                </a:solidFill>
                <a:effectLst/>
                <a:latin typeface="Candara Light" panose="020E0502030303020204" pitchFamily="34" charset="0"/>
              </a:rPr>
              <a:t>, stock, </a:t>
            </a:r>
            <a:r>
              <a:rPr lang="en-US" b="0" dirty="0" err="1">
                <a:solidFill>
                  <a:srgbClr val="FF0000"/>
                </a:solidFill>
                <a:effectLst/>
                <a:latin typeface="Candara Light" panose="020E0502030303020204" pitchFamily="34" charset="0"/>
              </a:rPr>
              <a:t>expired_date</a:t>
            </a:r>
            <a:r>
              <a:rPr lang="en-US" b="0" dirty="0">
                <a:solidFill>
                  <a:srgbClr val="FF0000"/>
                </a:solidFill>
                <a:effectLst/>
                <a:latin typeface="Candara Light" panose="020E0502030303020204" pitchFamily="34" charset="0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451489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3CB7-A5D7-AC4A-91A4-3BF03097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0" y="371510"/>
            <a:ext cx="9692640" cy="1325562"/>
          </a:xfrm>
        </p:spPr>
        <p:txBody>
          <a:bodyPr>
            <a:normAutofit/>
          </a:bodyPr>
          <a:lstStyle/>
          <a:p>
            <a:r>
              <a:rPr lang="en-US" sz="3600" dirty="0"/>
              <a:t>HOW to build CRUD </a:t>
            </a:r>
            <a:r>
              <a:rPr lang="en-US" sz="3600" dirty="0" err="1"/>
              <a:t>api</a:t>
            </a:r>
            <a:endParaRPr lang="en-ID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606A6-1B3E-9FFA-9FE1-83F8E2C70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40" y="2378305"/>
            <a:ext cx="3538728" cy="34454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Database</a:t>
            </a:r>
          </a:p>
          <a:p>
            <a:r>
              <a:rPr lang="en-US" dirty="0"/>
              <a:t>Design Database</a:t>
            </a:r>
          </a:p>
          <a:p>
            <a:r>
              <a:rPr lang="en-US" dirty="0"/>
              <a:t>Create Table</a:t>
            </a:r>
          </a:p>
          <a:p>
            <a:r>
              <a:rPr lang="en-US" dirty="0"/>
              <a:t>Insert Sample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63375-D5D4-D6FC-5E28-489C70CB4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913" y="2378305"/>
            <a:ext cx="7534483" cy="306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69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3CB7-A5D7-AC4A-91A4-3BF03097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006" y="417088"/>
            <a:ext cx="9692640" cy="1325562"/>
          </a:xfrm>
        </p:spPr>
        <p:txBody>
          <a:bodyPr>
            <a:normAutofit/>
          </a:bodyPr>
          <a:lstStyle/>
          <a:p>
            <a:r>
              <a:rPr lang="en-US" sz="3600" dirty="0"/>
              <a:t>HOW to build CRUD </a:t>
            </a:r>
            <a:r>
              <a:rPr lang="en-US" sz="3600" dirty="0" err="1"/>
              <a:t>api</a:t>
            </a:r>
            <a:endParaRPr lang="en-ID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606A6-1B3E-9FFA-9FE1-83F8E2C70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273" y="2588863"/>
            <a:ext cx="8595360" cy="37671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Database</a:t>
            </a:r>
          </a:p>
          <a:p>
            <a:r>
              <a:rPr lang="en-US" dirty="0"/>
              <a:t>Select Sample Data</a:t>
            </a:r>
          </a:p>
          <a:p>
            <a:r>
              <a:rPr lang="en-US" dirty="0"/>
              <a:t>Update Sample Data</a:t>
            </a:r>
          </a:p>
          <a:p>
            <a:r>
              <a:rPr lang="en-US" dirty="0"/>
              <a:t>Delete Sample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31141-F214-E077-6121-07AE8737D5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878"/>
          <a:stretch/>
        </p:blipFill>
        <p:spPr>
          <a:xfrm>
            <a:off x="3666406" y="2588863"/>
            <a:ext cx="7035461" cy="242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21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3CB7-A5D7-AC4A-91A4-3BF03097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538" y="0"/>
            <a:ext cx="9692640" cy="1325562"/>
          </a:xfrm>
        </p:spPr>
        <p:txBody>
          <a:bodyPr>
            <a:normAutofit/>
          </a:bodyPr>
          <a:lstStyle/>
          <a:p>
            <a:r>
              <a:rPr lang="en-US" sz="3600" dirty="0"/>
              <a:t>HOW to build CRUD </a:t>
            </a:r>
            <a:r>
              <a:rPr lang="en-US" sz="3600" dirty="0" err="1"/>
              <a:t>api</a:t>
            </a:r>
            <a:endParaRPr lang="en-ID" sz="36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4B2ACD6-A06C-B355-34B0-28FE8AD84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538" y="1805092"/>
            <a:ext cx="108204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Build simple API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Installation on VS Code</a:t>
            </a:r>
          </a:p>
          <a:p>
            <a:r>
              <a:rPr lang="en-US" dirty="0"/>
              <a:t>Lets import Express</a:t>
            </a:r>
          </a:p>
          <a:p>
            <a:r>
              <a:rPr lang="en-US" dirty="0"/>
              <a:t>Lets try hello world</a:t>
            </a:r>
          </a:p>
          <a:p>
            <a:r>
              <a:rPr lang="en-US" dirty="0"/>
              <a:t>Create a simple http listener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24D042-EE36-423B-C4B2-04DAE7518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072" y="2032421"/>
            <a:ext cx="6279928" cy="417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97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3CB7-A5D7-AC4A-91A4-3BF03097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05" y="-24608"/>
            <a:ext cx="9692640" cy="1325562"/>
          </a:xfrm>
        </p:spPr>
        <p:txBody>
          <a:bodyPr>
            <a:normAutofit/>
          </a:bodyPr>
          <a:lstStyle/>
          <a:p>
            <a:r>
              <a:rPr lang="en-US" sz="3600" dirty="0"/>
              <a:t>HOW to build CRUD </a:t>
            </a:r>
            <a:r>
              <a:rPr lang="en-US" sz="3600" dirty="0" err="1"/>
              <a:t>api</a:t>
            </a:r>
            <a:endParaRPr lang="en-ID" sz="36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4B2ACD6-A06C-B355-34B0-28FE8AD84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005" y="1788160"/>
            <a:ext cx="10498328" cy="515450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Understand the folder structures</a:t>
            </a:r>
          </a:p>
          <a:p>
            <a:r>
              <a:rPr lang="en-US" dirty="0"/>
              <a:t>Index</a:t>
            </a:r>
            <a:br>
              <a:rPr lang="en-US" dirty="0"/>
            </a:br>
            <a:r>
              <a:rPr lang="en-US" dirty="0"/>
              <a:t>Its where we put the listener</a:t>
            </a:r>
            <a:br>
              <a:rPr lang="en-US" dirty="0"/>
            </a:br>
            <a:r>
              <a:rPr lang="en-US" dirty="0"/>
              <a:t>we initiate something</a:t>
            </a:r>
            <a:br>
              <a:rPr lang="en-US" dirty="0"/>
            </a:br>
            <a:r>
              <a:rPr lang="en-US" dirty="0"/>
              <a:t>we tell where the router is</a:t>
            </a:r>
          </a:p>
          <a:p>
            <a:r>
              <a:rPr lang="en-US" dirty="0"/>
              <a:t>Controller</a:t>
            </a:r>
            <a:br>
              <a:rPr lang="en-US" dirty="0"/>
            </a:br>
            <a:r>
              <a:rPr lang="en-US" dirty="0"/>
              <a:t>We define the router</a:t>
            </a:r>
            <a:br>
              <a:rPr lang="en-US" dirty="0"/>
            </a:br>
            <a:r>
              <a:rPr lang="en-US" dirty="0"/>
              <a:t>Passing thru message</a:t>
            </a:r>
            <a:br>
              <a:rPr lang="en-US" dirty="0"/>
            </a:br>
            <a:r>
              <a:rPr lang="en-US" dirty="0"/>
              <a:t>If necessary adding first layer of </a:t>
            </a:r>
            <a:r>
              <a:rPr lang="en-US" dirty="0" err="1"/>
              <a:t>calidation</a:t>
            </a:r>
            <a:endParaRPr lang="en-US" dirty="0"/>
          </a:p>
          <a:p>
            <a:r>
              <a:rPr lang="en-US" dirty="0"/>
              <a:t>Flow</a:t>
            </a:r>
            <a:br>
              <a:rPr lang="en-US" dirty="0"/>
            </a:br>
            <a:r>
              <a:rPr lang="en-US" dirty="0"/>
              <a:t>We define business logic</a:t>
            </a:r>
            <a:br>
              <a:rPr lang="en-US" dirty="0"/>
            </a:br>
            <a:r>
              <a:rPr lang="en-US" dirty="0"/>
              <a:t>Adding second layer of validation</a:t>
            </a:r>
            <a:br>
              <a:rPr lang="en-US" dirty="0"/>
            </a:br>
            <a:r>
              <a:rPr lang="en-US" dirty="0"/>
              <a:t>Adding transformation or calculation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Repository</a:t>
            </a:r>
            <a:br>
              <a:rPr lang="en-US" dirty="0"/>
            </a:br>
            <a:r>
              <a:rPr lang="en-US" dirty="0"/>
              <a:t>This is where we actually call the backend</a:t>
            </a:r>
            <a:br>
              <a:rPr lang="en-US" dirty="0"/>
            </a:br>
            <a:r>
              <a:rPr lang="en-US" dirty="0"/>
              <a:t>if the backend is DB then this is where we define query</a:t>
            </a:r>
            <a:br>
              <a:rPr lang="en-US" dirty="0"/>
            </a:br>
            <a:r>
              <a:rPr lang="en-US" dirty="0"/>
              <a:t>if the backend is another API then we build function to call it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F480AF-692F-3D21-6CDC-0A0D9149F582}"/>
              </a:ext>
            </a:extLst>
          </p:cNvPr>
          <p:cNvSpPr/>
          <p:nvPr/>
        </p:nvSpPr>
        <p:spPr>
          <a:xfrm>
            <a:off x="6733114" y="2230965"/>
            <a:ext cx="2175934" cy="29404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D" dirty="0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59CCFAF7-D3CD-79E9-0C43-D004FE8AA7F4}"/>
              </a:ext>
            </a:extLst>
          </p:cNvPr>
          <p:cNvSpPr/>
          <p:nvPr/>
        </p:nvSpPr>
        <p:spPr>
          <a:xfrm>
            <a:off x="9453033" y="4088134"/>
            <a:ext cx="1494028" cy="1688254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  <a:endParaRPr lang="en-ID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7638BA-B5E4-1FC0-7DAB-23123F049B83}"/>
              </a:ext>
            </a:extLst>
          </p:cNvPr>
          <p:cNvCxnSpPr>
            <a:cxnSpLocks/>
          </p:cNvCxnSpPr>
          <p:nvPr/>
        </p:nvCxnSpPr>
        <p:spPr>
          <a:xfrm>
            <a:off x="8909048" y="4773722"/>
            <a:ext cx="5439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FCFEABD-049B-4E6B-913B-51582D193212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8909048" y="4932261"/>
            <a:ext cx="5439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16047A8-12FE-750A-3BAD-3B5529EA21C5}"/>
              </a:ext>
            </a:extLst>
          </p:cNvPr>
          <p:cNvSpPr/>
          <p:nvPr/>
        </p:nvSpPr>
        <p:spPr>
          <a:xfrm>
            <a:off x="6923614" y="2947033"/>
            <a:ext cx="1820334" cy="40576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87E4E0-537B-DE25-C7CB-24D97FD1AF41}"/>
              </a:ext>
            </a:extLst>
          </p:cNvPr>
          <p:cNvSpPr/>
          <p:nvPr/>
        </p:nvSpPr>
        <p:spPr>
          <a:xfrm>
            <a:off x="6915147" y="3493769"/>
            <a:ext cx="1820334" cy="41486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Controller</a:t>
            </a:r>
            <a:endParaRPr lang="en-ID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915776-51E3-87BC-0AFF-15CD1E410F45}"/>
              </a:ext>
            </a:extLst>
          </p:cNvPr>
          <p:cNvSpPr/>
          <p:nvPr/>
        </p:nvSpPr>
        <p:spPr>
          <a:xfrm>
            <a:off x="6923614" y="4040506"/>
            <a:ext cx="1820334" cy="41486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Flow</a:t>
            </a:r>
            <a:endParaRPr lang="en-ID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0DF42F-2DD1-7BC0-0A2C-CBF4E15620AE}"/>
              </a:ext>
            </a:extLst>
          </p:cNvPr>
          <p:cNvSpPr/>
          <p:nvPr/>
        </p:nvSpPr>
        <p:spPr>
          <a:xfrm>
            <a:off x="6923614" y="4566289"/>
            <a:ext cx="1820334" cy="41486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Repository</a:t>
            </a:r>
            <a:endParaRPr lang="en-ID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E744AC-7A91-FFB6-DDFF-5592D1B78766}"/>
              </a:ext>
            </a:extLst>
          </p:cNvPr>
          <p:cNvSpPr/>
          <p:nvPr/>
        </p:nvSpPr>
        <p:spPr>
          <a:xfrm>
            <a:off x="5071529" y="2230965"/>
            <a:ext cx="1117600" cy="10794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Apps A</a:t>
            </a:r>
            <a:endParaRPr lang="en-ID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F1065BA-BDA5-E85E-D27B-94CFDC3FEB86}"/>
              </a:ext>
            </a:extLst>
          </p:cNvPr>
          <p:cNvCxnSpPr>
            <a:cxnSpLocks/>
          </p:cNvCxnSpPr>
          <p:nvPr/>
        </p:nvCxnSpPr>
        <p:spPr>
          <a:xfrm>
            <a:off x="6189129" y="3029589"/>
            <a:ext cx="5439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57582F1-6D07-C817-8F2B-4A2D77E969EC}"/>
              </a:ext>
            </a:extLst>
          </p:cNvPr>
          <p:cNvCxnSpPr>
            <a:cxnSpLocks/>
          </p:cNvCxnSpPr>
          <p:nvPr/>
        </p:nvCxnSpPr>
        <p:spPr>
          <a:xfrm flipH="1">
            <a:off x="6189129" y="3150659"/>
            <a:ext cx="5439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559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91D-D50F-3174-5D78-5D2E763D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606" y="340360"/>
            <a:ext cx="9692640" cy="734907"/>
          </a:xfrm>
        </p:spPr>
        <p:txBody>
          <a:bodyPr>
            <a:normAutofit/>
          </a:bodyPr>
          <a:lstStyle/>
          <a:p>
            <a:r>
              <a:rPr lang="en-US" sz="4000" dirty="0"/>
              <a:t>Sample Code Structure</a:t>
            </a:r>
            <a:endParaRPr lang="en-ID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A336A-F104-5A6E-160A-86D4BD9704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404"/>
          <a:stretch/>
        </p:blipFill>
        <p:spPr>
          <a:xfrm>
            <a:off x="655999" y="1325934"/>
            <a:ext cx="9106068" cy="509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43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3CB7-A5D7-AC4A-91A4-3BF03097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421311"/>
            <a:ext cx="9692640" cy="1325562"/>
          </a:xfrm>
        </p:spPr>
        <p:txBody>
          <a:bodyPr>
            <a:normAutofit/>
          </a:bodyPr>
          <a:lstStyle/>
          <a:p>
            <a:r>
              <a:rPr lang="en-US" sz="3600" dirty="0"/>
              <a:t>Testing API</a:t>
            </a:r>
            <a:endParaRPr lang="en-ID" sz="36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4B2ACD6-A06C-B355-34B0-28FE8AD84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2788537"/>
            <a:ext cx="10820400" cy="4024125"/>
          </a:xfrm>
        </p:spPr>
        <p:txBody>
          <a:bodyPr/>
          <a:lstStyle/>
          <a:p>
            <a:r>
              <a:rPr lang="en-US" dirty="0"/>
              <a:t>Test From Browser</a:t>
            </a:r>
          </a:p>
          <a:p>
            <a:r>
              <a:rPr lang="en-US" dirty="0"/>
              <a:t>Test from SOAPUI</a:t>
            </a:r>
          </a:p>
          <a:p>
            <a:r>
              <a:rPr lang="en-US" dirty="0"/>
              <a:t>Test with CURL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F480AF-692F-3D21-6CDC-0A0D9149F582}"/>
              </a:ext>
            </a:extLst>
          </p:cNvPr>
          <p:cNvSpPr/>
          <p:nvPr/>
        </p:nvSpPr>
        <p:spPr>
          <a:xfrm>
            <a:off x="8068732" y="2788537"/>
            <a:ext cx="1854200" cy="151553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  <a:endParaRPr lang="en-ID" dirty="0"/>
          </a:p>
        </p:txBody>
      </p:sp>
      <p:pic>
        <p:nvPicPr>
          <p:cNvPr id="3" name="Graphic 2" descr="Laptop with solid fill">
            <a:extLst>
              <a:ext uri="{FF2B5EF4-FFF2-40B4-BE49-F238E27FC236}">
                <a16:creationId xmlns:a16="http://schemas.microsoft.com/office/drawing/2014/main" id="{0C59D0E3-2464-9714-D18A-7A4F9704B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8932" y="2979038"/>
            <a:ext cx="1286933" cy="128693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5159E6-E5E9-1E4C-0CAA-A4BC94959D6C}"/>
              </a:ext>
            </a:extLst>
          </p:cNvPr>
          <p:cNvCxnSpPr>
            <a:cxnSpLocks/>
          </p:cNvCxnSpPr>
          <p:nvPr/>
        </p:nvCxnSpPr>
        <p:spPr>
          <a:xfrm>
            <a:off x="7238998" y="3546304"/>
            <a:ext cx="76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EB36F1-BF24-85FC-A792-FCB521DD5712}"/>
              </a:ext>
            </a:extLst>
          </p:cNvPr>
          <p:cNvCxnSpPr>
            <a:cxnSpLocks/>
          </p:cNvCxnSpPr>
          <p:nvPr/>
        </p:nvCxnSpPr>
        <p:spPr>
          <a:xfrm flipH="1">
            <a:off x="7238998" y="3724105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85227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315</TotalTime>
  <Words>602</Words>
  <Application>Microsoft Office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-apple-system</vt:lpstr>
      <vt:lpstr>Arial</vt:lpstr>
      <vt:lpstr>Candara Light</vt:lpstr>
      <vt:lpstr>Century Schoolbook</vt:lpstr>
      <vt:lpstr>inherit</vt:lpstr>
      <vt:lpstr>Wingdings 2</vt:lpstr>
      <vt:lpstr>View</vt:lpstr>
      <vt:lpstr>Coding Knowledge</vt:lpstr>
      <vt:lpstr>Introduction to APPs</vt:lpstr>
      <vt:lpstr>Introduction to APPs</vt:lpstr>
      <vt:lpstr>What is API ?</vt:lpstr>
      <vt:lpstr>What happened inside API ?</vt:lpstr>
      <vt:lpstr>What is API Looks like ?</vt:lpstr>
      <vt:lpstr>API sample 1</vt:lpstr>
      <vt:lpstr>PowerPoint Presentation</vt:lpstr>
      <vt:lpstr>HOW to build CRUD api</vt:lpstr>
      <vt:lpstr>HOW to build CRUD api</vt:lpstr>
      <vt:lpstr>HOW to build CRUD api</vt:lpstr>
      <vt:lpstr>HOW to build CRUD api</vt:lpstr>
      <vt:lpstr>HOW to build CRUD api</vt:lpstr>
      <vt:lpstr>Sample Code Structure</vt:lpstr>
      <vt:lpstr>Testing 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Knowledge</dc:title>
  <dc:creator>syamsul mustaqim</dc:creator>
  <cp:lastModifiedBy>syamsul mustaqim</cp:lastModifiedBy>
  <cp:revision>7</cp:revision>
  <dcterms:created xsi:type="dcterms:W3CDTF">2025-01-09T07:18:08Z</dcterms:created>
  <dcterms:modified xsi:type="dcterms:W3CDTF">2025-01-10T12:15:58Z</dcterms:modified>
</cp:coreProperties>
</file>